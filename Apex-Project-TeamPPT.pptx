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embeddedFontLst>
    <p:embeddedFont>
      <p:font typeface="Arial Narrow" panose="020B0606020202030204" pitchFamily="34" charset="0"/>
      <p:regular r:id="rId8"/>
      <p:bold r:id="rId9"/>
      <p:italic r:id="rId10"/>
      <p:boldItalic r:id="rId1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9" roundtripDataSignature="AMtx7mgnGwqcHed6fQSzE0sIRUZTZLcSZ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CEE3E0D-B1EE-4F3C-8A3C-1B71CAE99EE3}" v="1" dt="2025-12-07T07:22:51.731"/>
  </p1510:revLst>
</p1510:revInfo>
</file>

<file path=ppt/tableStyles.xml><?xml version="1.0" encoding="utf-8"?>
<a:tblStyleLst xmlns:a="http://schemas.openxmlformats.org/drawingml/2006/main" def="{41193466-44FF-4FF9-8C29-E9B20F2B3F6B}">
  <a:tblStyle styleId="{41193466-44FF-4FF9-8C29-E9B20F2B3F6B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77C60536-C245-4EC8-B382-B26A2B02CB2B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309" autoAdjust="0"/>
    <p:restoredTop sz="94660"/>
  </p:normalViewPr>
  <p:slideViewPr>
    <p:cSldViewPr snapToGrid="0">
      <p:cViewPr varScale="1">
        <p:scale>
          <a:sx n="55" d="100"/>
          <a:sy n="55" d="100"/>
        </p:scale>
        <p:origin x="56" y="2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50" Type="http://schemas.openxmlformats.org/officeDocument/2006/relationships/presProps" Target="presProps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54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49" Type="http://customschemas.google.com/relationships/presentationmetadata" Target="metadata"/><Relationship Id="rId10" Type="http://schemas.openxmlformats.org/officeDocument/2006/relationships/font" Target="fonts/font3.fntdata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25" name="Google Shape;2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">
          <a:extLst>
            <a:ext uri="{FF2B5EF4-FFF2-40B4-BE49-F238E27FC236}">
              <a16:creationId xmlns:a16="http://schemas.microsoft.com/office/drawing/2014/main" id="{9FC30BAC-547F-C260-CB85-A3745EAF25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:notes">
            <a:extLst>
              <a:ext uri="{FF2B5EF4-FFF2-40B4-BE49-F238E27FC236}">
                <a16:creationId xmlns:a16="http://schemas.microsoft.com/office/drawing/2014/main" id="{7FA85A82-3CAD-05B5-E236-50C9C23D65E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25" name="Google Shape;25;p1:notes">
            <a:extLst>
              <a:ext uri="{FF2B5EF4-FFF2-40B4-BE49-F238E27FC236}">
                <a16:creationId xmlns:a16="http://schemas.microsoft.com/office/drawing/2014/main" id="{F8826B94-48C5-3BFC-22DC-44AD2556D92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8651035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9"/>
          <p:cNvSpPr txBox="1">
            <a:spLocks noGrp="1"/>
          </p:cNvSpPr>
          <p:nvPr>
            <p:ph type="title"/>
          </p:nvPr>
        </p:nvSpPr>
        <p:spPr>
          <a:xfrm>
            <a:off x="441960" y="342900"/>
            <a:ext cx="9326876" cy="93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8"/>
          <p:cNvSpPr txBox="1">
            <a:spLocks noGrp="1"/>
          </p:cNvSpPr>
          <p:nvPr>
            <p:ph type="body" idx="1"/>
          </p:nvPr>
        </p:nvSpPr>
        <p:spPr>
          <a:xfrm>
            <a:off x="441960" y="1825625"/>
            <a:ext cx="1140714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11" name="Google Shape;11;p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2" y="6466115"/>
            <a:ext cx="12204000" cy="10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12;p2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-2" y="1295790"/>
            <a:ext cx="4465320" cy="103523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28"/>
          <p:cNvSpPr txBox="1">
            <a:spLocks noGrp="1"/>
          </p:cNvSpPr>
          <p:nvPr>
            <p:ph type="title"/>
          </p:nvPr>
        </p:nvSpPr>
        <p:spPr>
          <a:xfrm>
            <a:off x="441960" y="342900"/>
            <a:ext cx="9326876" cy="93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1" i="0" u="none" strike="noStrike" cap="non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">
          <p15:clr>
            <a:srgbClr val="F26B43"/>
          </p15:clr>
        </p15:guide>
        <p15:guide id="2" pos="264">
          <p15:clr>
            <a:srgbClr val="F26B43"/>
          </p15:clr>
        </p15:guide>
        <p15:guide id="3" pos="7464">
          <p15:clr>
            <a:srgbClr val="F26B43"/>
          </p15:clr>
        </p15:guide>
        <p15:guide id="4" orient="horz" pos="696">
          <p15:clr>
            <a:srgbClr val="F26B43"/>
          </p15:clr>
        </p15:guide>
        <p15:guide id="5" orient="horz" pos="1152">
          <p15:clr>
            <a:srgbClr val="F26B43"/>
          </p15:clr>
        </p15:guide>
        <p15:guide id="6" orient="horz" pos="3888">
          <p15:clr>
            <a:srgbClr val="F26B43"/>
          </p15:clr>
        </p15:guide>
        <p15:guide id="7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kaggle.com/datasets/psparks/instacart-market-basket-analysis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98D0BF57-1ECC-FA66-D02E-F613617E0E36}"/>
              </a:ext>
            </a:extLst>
          </p:cNvPr>
          <p:cNvSpPr/>
          <p:nvPr/>
        </p:nvSpPr>
        <p:spPr>
          <a:xfrm>
            <a:off x="7801337" y="4074289"/>
            <a:ext cx="4097438" cy="236123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Google Shape;27;p1"/>
          <p:cNvSpPr txBox="1">
            <a:spLocks noGrp="1"/>
          </p:cNvSpPr>
          <p:nvPr>
            <p:ph type="title"/>
          </p:nvPr>
        </p:nvSpPr>
        <p:spPr>
          <a:xfrm>
            <a:off x="696603" y="146130"/>
            <a:ext cx="9327000" cy="93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ts val="1100"/>
              <a:buNone/>
            </a:pPr>
            <a:r>
              <a:rPr lang="en-IN" sz="3200" dirty="0">
                <a:solidFill>
                  <a:srgbClr val="1C4587"/>
                </a:solidFill>
                <a:latin typeface="+mj-lt"/>
              </a:rPr>
              <a:t>Title: </a:t>
            </a:r>
            <a:r>
              <a:rPr lang="en-IN" sz="3200" u="sng" dirty="0">
                <a:solidFill>
                  <a:srgbClr val="1C4587"/>
                </a:solidFill>
                <a:latin typeface="+mj-lt"/>
              </a:rPr>
              <a:t>Customer Segmentation using Clustering(Instacart Market Basket Analysis)</a:t>
            </a:r>
            <a:endParaRPr sz="3200" u="sng" dirty="0">
              <a:solidFill>
                <a:srgbClr val="1C4587"/>
              </a:solidFill>
              <a:latin typeface="+mj-lt"/>
            </a:endParaRPr>
          </a:p>
        </p:txBody>
      </p:sp>
      <p:sp>
        <p:nvSpPr>
          <p:cNvPr id="28" name="Google Shape;28;p1"/>
          <p:cNvSpPr txBox="1"/>
          <p:nvPr/>
        </p:nvSpPr>
        <p:spPr>
          <a:xfrm>
            <a:off x="470395" y="1215342"/>
            <a:ext cx="10003536" cy="6829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algn="ctr"/>
            <a:br>
              <a:rPr lang="en-IN" sz="2400" dirty="0"/>
            </a:br>
            <a:r>
              <a:rPr lang="en-IN" sz="2400" b="1" i="1" dirty="0" err="1"/>
              <a:t>AisleAffinity</a:t>
            </a:r>
            <a:r>
              <a:rPr lang="en-IN" sz="2400" b="1" i="1" dirty="0"/>
              <a:t> – </a:t>
            </a:r>
            <a:r>
              <a:rPr lang="en-IN" sz="2400" b="1" i="1" u="sng" dirty="0"/>
              <a:t>Cartographer: </a:t>
            </a:r>
            <a:r>
              <a:rPr lang="en-IN" sz="2400" b="1" i="1" u="sng" dirty="0">
                <a:latin typeface="+mn-lt"/>
              </a:rPr>
              <a:t>Mapping</a:t>
            </a:r>
            <a:r>
              <a:rPr lang="en-IN" sz="2400" b="1" i="1" u="sng" dirty="0">
                <a:latin typeface="Arial Narrow" panose="020B0606020202030204" pitchFamily="34" charset="0"/>
              </a:rPr>
              <a:t> </a:t>
            </a:r>
            <a:r>
              <a:rPr lang="en-IN" sz="2400" b="1" i="1" u="sng" dirty="0"/>
              <a:t>Tastes to Carts</a:t>
            </a:r>
            <a:endParaRPr lang="en-IN" sz="2400" b="1" u="sng" dirty="0"/>
          </a:p>
        </p:txBody>
      </p:sp>
      <p:pic>
        <p:nvPicPr>
          <p:cNvPr id="3" name="Picture 2" descr="A logo for a company&#10;&#10;AI-generated content may be incorrect.">
            <a:extLst>
              <a:ext uri="{FF2B5EF4-FFF2-40B4-BE49-F238E27FC236}">
                <a16:creationId xmlns:a16="http://schemas.microsoft.com/office/drawing/2014/main" id="{A09E127E-1AB3-6FAE-CA5F-C5232DE0170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6829" b="30639"/>
          <a:stretch>
            <a:fillRect/>
          </a:stretch>
        </p:blipFill>
        <p:spPr>
          <a:xfrm>
            <a:off x="9792109" y="277792"/>
            <a:ext cx="1905000" cy="81022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4ACFA5F-DF82-5512-A434-644DDF1C3798}"/>
              </a:ext>
            </a:extLst>
          </p:cNvPr>
          <p:cNvSpPr txBox="1"/>
          <p:nvPr/>
        </p:nvSpPr>
        <p:spPr>
          <a:xfrm>
            <a:off x="7890076" y="4247909"/>
            <a:ext cx="4047281" cy="22775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u="sng" dirty="0"/>
              <a:t>Team Members: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Debjit Adak – 2025EM1100283</a:t>
            </a:r>
            <a:endParaRPr lang="en-IN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Anisha Das – 2025EM1100192</a:t>
            </a:r>
            <a:endParaRPr lang="en-IN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Akash Ghosh – 2025EM1100017</a:t>
            </a:r>
            <a:endParaRPr lang="en-IN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 err="1"/>
              <a:t>Kritanhik</a:t>
            </a:r>
            <a:r>
              <a:rPr lang="en-IN" sz="1600" b="1" dirty="0"/>
              <a:t> Biswas – 2025EM1100104</a:t>
            </a:r>
          </a:p>
          <a:p>
            <a:endParaRPr lang="en-IN" sz="1600" dirty="0"/>
          </a:p>
          <a:p>
            <a:r>
              <a:rPr lang="en-IN" sz="1600" b="1" u="sng" dirty="0"/>
              <a:t>Supervisor: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Mr. Shubham Gupta</a:t>
            </a:r>
            <a:endParaRPr lang="en-IN" sz="1600" dirty="0"/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34ECB20-E5BA-66EC-92D1-1B7BB3877BFF}"/>
              </a:ext>
            </a:extLst>
          </p:cNvPr>
          <p:cNvSpPr txBox="1"/>
          <p:nvPr/>
        </p:nvSpPr>
        <p:spPr>
          <a:xfrm>
            <a:off x="520861" y="2326509"/>
            <a:ext cx="968801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800" b="1" u="sng" dirty="0">
                <a:latin typeface="+mn-lt"/>
              </a:rPr>
              <a:t>Business Goal: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1800" dirty="0">
                <a:latin typeface="+mn-lt"/>
              </a:rPr>
              <a:t>Group Instacart customers into meaningful behavioral segments to improve: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1800" b="1" dirty="0">
                <a:latin typeface="+mn-lt"/>
              </a:rPr>
              <a:t>Targeted marketing</a:t>
            </a:r>
            <a:endParaRPr lang="en-US" sz="1800" dirty="0">
              <a:latin typeface="+mn-lt"/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1800" b="1" dirty="0">
                <a:latin typeface="+mn-lt"/>
              </a:rPr>
              <a:t>Cross-sell &amp; up-sell recommendations</a:t>
            </a:r>
            <a:endParaRPr lang="en-US" sz="1800" dirty="0">
              <a:latin typeface="+mn-lt"/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1800" b="1" dirty="0">
                <a:latin typeface="+mn-lt"/>
              </a:rPr>
              <a:t>Expected AOV uplift: 5–8%</a:t>
            </a:r>
            <a:endParaRPr lang="en-US" sz="1800" dirty="0">
              <a:latin typeface="+mn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6423374-FC59-2334-2995-03BEF544D8A4}"/>
              </a:ext>
            </a:extLst>
          </p:cNvPr>
          <p:cNvSpPr txBox="1"/>
          <p:nvPr/>
        </p:nvSpPr>
        <p:spPr>
          <a:xfrm>
            <a:off x="509284" y="4259479"/>
            <a:ext cx="6840639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u="sng" dirty="0">
                <a:latin typeface="+mn-lt"/>
              </a:rPr>
              <a:t>Dataset Source:</a:t>
            </a:r>
          </a:p>
          <a:p>
            <a:r>
              <a:rPr lang="en-IN" sz="1600" i="1" dirty="0">
                <a:latin typeface="+mn-lt"/>
              </a:rPr>
              <a:t>Kaggle – Instacart Market Basket Analysis</a:t>
            </a:r>
            <a:br>
              <a:rPr lang="en-IN" sz="1600" dirty="0">
                <a:latin typeface="+mn-lt"/>
              </a:rPr>
            </a:br>
            <a:r>
              <a:rPr lang="en-IN" sz="1600" dirty="0">
                <a:latin typeface="+mn-lt"/>
              </a:rPr>
              <a:t>Includes: orders, prior orders, train orders, products, aisles &amp; departments</a:t>
            </a:r>
            <a:br>
              <a:rPr lang="en-IN" sz="1600" dirty="0">
                <a:latin typeface="+mn-lt"/>
              </a:rPr>
            </a:br>
            <a:r>
              <a:rPr lang="en-IN" sz="1600" b="1" dirty="0">
                <a:latin typeface="+mn-lt"/>
              </a:rPr>
              <a:t>Link:</a:t>
            </a:r>
            <a:r>
              <a:rPr lang="en-IN" sz="1600" dirty="0">
                <a:latin typeface="+mn-lt"/>
              </a:rPr>
              <a:t> </a:t>
            </a:r>
            <a:r>
              <a:rPr lang="en-IN" sz="1600" dirty="0">
                <a:latin typeface="+mn-lt"/>
                <a:hlinkClick r:id="rId4"/>
              </a:rPr>
              <a:t>https://www.kaggle.com/datasets/psparks/instacart-market-basket-analysis</a:t>
            </a:r>
            <a:br>
              <a:rPr lang="en-IN" sz="1600" dirty="0">
                <a:latin typeface="+mn-lt"/>
              </a:rPr>
            </a:br>
            <a:r>
              <a:rPr lang="en-IN" sz="1600" b="1" dirty="0">
                <a:latin typeface="+mn-lt"/>
              </a:rPr>
              <a:t>Citation:</a:t>
            </a:r>
            <a:r>
              <a:rPr lang="en-IN" sz="1600" dirty="0">
                <a:latin typeface="+mn-lt"/>
              </a:rPr>
              <a:t> Instacart (2017), </a:t>
            </a:r>
            <a:r>
              <a:rPr lang="en-IN" sz="1600" i="1" dirty="0">
                <a:latin typeface="+mn-lt"/>
              </a:rPr>
              <a:t>Instacart Market Basket Analysis</a:t>
            </a:r>
            <a:r>
              <a:rPr lang="en-IN" sz="1600" dirty="0">
                <a:latin typeface="+mn-lt"/>
              </a:rPr>
              <a:t>, Kaggle. Retrieved from the link above.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">
          <a:extLst>
            <a:ext uri="{FF2B5EF4-FFF2-40B4-BE49-F238E27FC236}">
              <a16:creationId xmlns:a16="http://schemas.microsoft.com/office/drawing/2014/main" id="{19122CC5-1D76-457E-1725-9C19136182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B5C099A6-6161-C2A3-9FAA-8D137F241097}"/>
              </a:ext>
            </a:extLst>
          </p:cNvPr>
          <p:cNvSpPr/>
          <p:nvPr/>
        </p:nvSpPr>
        <p:spPr>
          <a:xfrm>
            <a:off x="1747777" y="6041984"/>
            <a:ext cx="7963382" cy="33566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Google Shape;27;p1">
            <a:extLst>
              <a:ext uri="{FF2B5EF4-FFF2-40B4-BE49-F238E27FC236}">
                <a16:creationId xmlns:a16="http://schemas.microsoft.com/office/drawing/2014/main" id="{74427BAC-EA02-88D5-1986-B7B59B8DF77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58649" y="423922"/>
            <a:ext cx="9327000" cy="93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algn="ctr">
              <a:spcAft>
                <a:spcPts val="600"/>
              </a:spcAft>
              <a:buSzPts val="1100"/>
            </a:pPr>
            <a:r>
              <a:rPr lang="en-IN" sz="3200" u="sng" dirty="0">
                <a:solidFill>
                  <a:srgbClr val="1C4587"/>
                </a:solidFill>
                <a:latin typeface="+mj-lt"/>
              </a:rPr>
              <a:t>Data &amp; Feature Engineering (High-Level)</a:t>
            </a:r>
            <a:endParaRPr sz="3200" u="sng" dirty="0">
              <a:solidFill>
                <a:srgbClr val="1C4587"/>
              </a:solidFill>
              <a:latin typeface="+mj-l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8F1328C-AB40-FA50-C83B-3BCB850B25BC}"/>
              </a:ext>
            </a:extLst>
          </p:cNvPr>
          <p:cNvSpPr txBox="1"/>
          <p:nvPr/>
        </p:nvSpPr>
        <p:spPr>
          <a:xfrm>
            <a:off x="648182" y="1458408"/>
            <a:ext cx="9363919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1600" b="1" u="sng" dirty="0"/>
              <a:t>Dataset Summary (from proposal + typical Instacart stats):</a:t>
            </a:r>
          </a:p>
          <a:p>
            <a:pPr marL="285750" indent="-285750" algn="just">
              <a:buFont typeface="Courier New" panose="02070309020205020404" pitchFamily="49" charset="0"/>
              <a:buChar char="o"/>
            </a:pPr>
            <a:r>
              <a:rPr lang="en-IN" sz="1600" dirty="0"/>
              <a:t>~3.4M prior order lines</a:t>
            </a:r>
          </a:p>
          <a:p>
            <a:pPr marL="285750" indent="-285750" algn="just">
              <a:buFont typeface="Courier New" panose="02070309020205020404" pitchFamily="49" charset="0"/>
              <a:buChar char="o"/>
            </a:pPr>
            <a:r>
              <a:rPr lang="en-IN" sz="1600" dirty="0"/>
              <a:t>~200K customers</a:t>
            </a:r>
          </a:p>
          <a:p>
            <a:pPr marL="285750" indent="-285750" algn="just">
              <a:buFont typeface="Courier New" panose="02070309020205020404" pitchFamily="49" charset="0"/>
              <a:buChar char="o"/>
            </a:pPr>
            <a:r>
              <a:rPr lang="en-IN" sz="1600" dirty="0"/>
              <a:t>~134 aisles, 21 departments</a:t>
            </a:r>
          </a:p>
          <a:p>
            <a:pPr marL="285750" indent="-285750" algn="just">
              <a:buFont typeface="Courier New" panose="02070309020205020404" pitchFamily="49" charset="0"/>
              <a:buChar char="o"/>
            </a:pPr>
            <a:r>
              <a:rPr lang="en-IN" sz="1600" dirty="0"/>
              <a:t>Products enriched using aisle &amp; department metadata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6A95C41-F1BA-1032-BAE5-1E16CDA374DC}"/>
              </a:ext>
            </a:extLst>
          </p:cNvPr>
          <p:cNvSpPr txBox="1"/>
          <p:nvPr/>
        </p:nvSpPr>
        <p:spPr>
          <a:xfrm>
            <a:off x="486133" y="2997840"/>
            <a:ext cx="5578997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b="1" u="sng" dirty="0"/>
              <a:t>Preprocessing Steps: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Joined product → aisle → department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Built baskets per </a:t>
            </a:r>
            <a:r>
              <a:rPr lang="en-US" sz="1600" b="1" dirty="0"/>
              <a:t>prior</a:t>
            </a:r>
            <a:r>
              <a:rPr lang="en-US" sz="1600" dirty="0"/>
              <a:t> order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Cleaned missing values, duplicates, type issues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Removed extremely rare products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Created consolidated workspace for modeling (Phase 3)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85F831C-4D4A-4F8D-61EC-660C52C8AB79}"/>
              </a:ext>
            </a:extLst>
          </p:cNvPr>
          <p:cNvSpPr txBox="1"/>
          <p:nvPr/>
        </p:nvSpPr>
        <p:spPr>
          <a:xfrm>
            <a:off x="6157729" y="3032572"/>
            <a:ext cx="5636871" cy="30623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600" b="1" u="sng" dirty="0"/>
              <a:t>Feature Engineering:</a:t>
            </a:r>
          </a:p>
          <a:p>
            <a:endParaRPr lang="en-IN" sz="9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Customer Embeddings (128 dimensions)</a:t>
            </a:r>
            <a:br>
              <a:rPr lang="en-IN" sz="1600" dirty="0"/>
            </a:br>
            <a:r>
              <a:rPr lang="en-IN" sz="1600" dirty="0"/>
              <a:t>Derived from product vectors (Product2Vec / aggregation of product embeddings).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Behavioural Features:</a:t>
            </a:r>
            <a:endParaRPr lang="en-IN" sz="1600" dirty="0"/>
          </a:p>
          <a:p>
            <a:pPr lvl="7"/>
            <a:r>
              <a:rPr lang="en-IN" sz="1600" dirty="0"/>
              <a:t>          • Prior order count</a:t>
            </a:r>
          </a:p>
          <a:p>
            <a:pPr lvl="7"/>
            <a:r>
              <a:rPr lang="en-IN" sz="1600" dirty="0"/>
              <a:t>          • Average basket size</a:t>
            </a:r>
          </a:p>
          <a:p>
            <a:pPr lvl="7"/>
            <a:r>
              <a:rPr lang="en-IN" sz="1600" dirty="0"/>
              <a:t>          • Reorder ratio</a:t>
            </a:r>
          </a:p>
          <a:p>
            <a:pPr lvl="7"/>
            <a:r>
              <a:rPr lang="en-IN" sz="1600" dirty="0"/>
              <a:t>          • Mean days between orders</a:t>
            </a:r>
          </a:p>
          <a:p>
            <a:pPr lvl="7"/>
            <a:r>
              <a:rPr lang="en-IN" sz="1600" dirty="0"/>
              <a:t>          • Basic RFM-style proxies</a:t>
            </a:r>
          </a:p>
          <a:p>
            <a:endParaRPr lang="en-IN" sz="16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809DFE8-5BCD-A099-30A3-A5716F44E3CA}"/>
              </a:ext>
            </a:extLst>
          </p:cNvPr>
          <p:cNvSpPr txBox="1"/>
          <p:nvPr/>
        </p:nvSpPr>
        <p:spPr>
          <a:xfrm>
            <a:off x="1053298" y="5636866"/>
            <a:ext cx="9340769" cy="7391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Flow Diagram:</a:t>
            </a:r>
          </a:p>
          <a:p>
            <a:pPr algn="ctr">
              <a:lnSpc>
                <a:spcPct val="150000"/>
              </a:lnSpc>
            </a:pPr>
            <a:r>
              <a:rPr lang="en-US" sz="1600" b="1" dirty="0"/>
              <a:t>Raw Instacart Data → Cleaning/EDA → Feature Engineering → Customer Vectors</a:t>
            </a:r>
            <a:endParaRPr lang="en-US" sz="1600" dirty="0"/>
          </a:p>
        </p:txBody>
      </p:sp>
      <p:pic>
        <p:nvPicPr>
          <p:cNvPr id="13" name="Picture 12" descr="A logo for a company&#10;&#10;AI-generated content may be incorrect.">
            <a:extLst>
              <a:ext uri="{FF2B5EF4-FFF2-40B4-BE49-F238E27FC236}">
                <a16:creationId xmlns:a16="http://schemas.microsoft.com/office/drawing/2014/main" id="{4713CC80-03A4-2A43-B450-D675E7DF73C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6829" b="30639"/>
          <a:stretch>
            <a:fillRect/>
          </a:stretch>
        </p:blipFill>
        <p:spPr>
          <a:xfrm>
            <a:off x="9792109" y="277792"/>
            <a:ext cx="1905000" cy="810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37890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7825EE-6053-1CA3-A8E5-129E67EA9B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7545" y="412349"/>
            <a:ext cx="9326876" cy="937650"/>
          </a:xfrm>
        </p:spPr>
        <p:txBody>
          <a:bodyPr/>
          <a:lstStyle/>
          <a:p>
            <a:pPr algn="ctr"/>
            <a:r>
              <a:rPr lang="en-IN" sz="3200" u="sng" dirty="0">
                <a:solidFill>
                  <a:srgbClr val="1C4587"/>
                </a:solidFill>
                <a:latin typeface="+mj-lt"/>
              </a:rPr>
              <a:t>Clustering Models &amp; Metrics</a:t>
            </a:r>
            <a:endParaRPr lang="en-IN" sz="3200" u="sng" dirty="0">
              <a:latin typeface="+mj-lt"/>
            </a:endParaRPr>
          </a:p>
        </p:txBody>
      </p:sp>
      <p:pic>
        <p:nvPicPr>
          <p:cNvPr id="3" name="Picture 2" descr="A logo for a company&#10;&#10;AI-generated content may be incorrect.">
            <a:extLst>
              <a:ext uri="{FF2B5EF4-FFF2-40B4-BE49-F238E27FC236}">
                <a16:creationId xmlns:a16="http://schemas.microsoft.com/office/drawing/2014/main" id="{02FE72B0-CE0F-AEC6-7B0E-36981D2DD5A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6829" b="30639"/>
          <a:stretch>
            <a:fillRect/>
          </a:stretch>
        </p:blipFill>
        <p:spPr>
          <a:xfrm>
            <a:off x="9792109" y="277792"/>
            <a:ext cx="1905000" cy="81022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E8C934D-E65A-4F60-35EF-244E2A841BE5}"/>
              </a:ext>
            </a:extLst>
          </p:cNvPr>
          <p:cNvSpPr txBox="1"/>
          <p:nvPr/>
        </p:nvSpPr>
        <p:spPr>
          <a:xfrm>
            <a:off x="879675" y="1354235"/>
            <a:ext cx="963013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600" b="1" u="sng" dirty="0"/>
              <a:t>Clustering Models Used: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lang="en-US" altLang="en-US" sz="1600" b="1" dirty="0" err="1">
                <a:solidFill>
                  <a:schemeClr val="tx1"/>
                </a:solidFill>
                <a:latin typeface="Arial" panose="020B0604020202020204" pitchFamily="34" charset="0"/>
              </a:rPr>
              <a:t>KMeans</a:t>
            </a:r>
            <a:r>
              <a:rPr lang="en-US" altLang="en-US" sz="1600" dirty="0">
                <a:solidFill>
                  <a:schemeClr val="tx1"/>
                </a:solidFill>
                <a:latin typeface="Arial" panose="020B0604020202020204" pitchFamily="34" charset="0"/>
              </a:rPr>
              <a:t> – simple centroid-based baseline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lang="en-US" altLang="en-US" sz="1600" b="1" dirty="0">
                <a:solidFill>
                  <a:schemeClr val="tx1"/>
                </a:solidFill>
                <a:latin typeface="Arial" panose="020B0604020202020204" pitchFamily="34" charset="0"/>
              </a:rPr>
              <a:t>Agglomerative / Hierarchical</a:t>
            </a:r>
            <a:r>
              <a:rPr lang="en-US" altLang="en-US" sz="1600" dirty="0">
                <a:solidFill>
                  <a:schemeClr val="tx1"/>
                </a:solidFill>
                <a:latin typeface="Arial" panose="020B0604020202020204" pitchFamily="34" charset="0"/>
              </a:rPr>
              <a:t> – tree-based clustering using linkage merges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lang="en-US" altLang="en-US" sz="1600" b="1" dirty="0">
                <a:solidFill>
                  <a:schemeClr val="tx1"/>
                </a:solidFill>
                <a:latin typeface="Arial" panose="020B0604020202020204" pitchFamily="34" charset="0"/>
              </a:rPr>
              <a:t>UMAP + HDBSCAN</a:t>
            </a:r>
            <a:r>
              <a:rPr lang="en-US" altLang="en-US" sz="1600" dirty="0">
                <a:solidFill>
                  <a:schemeClr val="tx1"/>
                </a:solidFill>
                <a:latin typeface="Arial" panose="020B0604020202020204" pitchFamily="34" charset="0"/>
              </a:rPr>
              <a:t> – density-based approach; handles noise and identifies micro-segments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9A7ED131-F2AC-7250-6E4F-598E46D9BD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077002"/>
              </p:ext>
            </p:extLst>
          </p:nvPr>
        </p:nvGraphicFramePr>
        <p:xfrm>
          <a:off x="1696335" y="3023031"/>
          <a:ext cx="8127999" cy="1483360"/>
        </p:xfrm>
        <a:graphic>
          <a:graphicData uri="http://schemas.openxmlformats.org/drawingml/2006/table">
            <a:tbl>
              <a:tblPr firstRow="1" bandRow="1">
                <a:tableStyleId>{41193466-44FF-4FF9-8C29-E9B20F2B3F6B}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3715587792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600931971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09606434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u="none" dirty="0"/>
                        <a:t>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u="none" dirty="0"/>
                        <a:t>Silhouette 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b="1" u="none" dirty="0"/>
                        <a:t>Davies-Bouldin ↓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41339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0" dirty="0" err="1"/>
                        <a:t>KMeans</a:t>
                      </a:r>
                      <a:endParaRPr lang="en-IN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dirty="0"/>
                        <a:t>~ 0.32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dirty="0"/>
                        <a:t>~0.92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7983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Hierarchical</a:t>
                      </a:r>
                      <a:endParaRPr lang="en-IN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dirty="0"/>
                        <a:t>~ 0.30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dirty="0"/>
                        <a:t>~ 1.71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17067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0" dirty="0"/>
                        <a:t>HDBSCAN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dirty="0"/>
                        <a:t>~ 0.60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dirty="0"/>
                        <a:t>~ 0.45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8439957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49A1EE39-82A8-74E8-28DC-6A1D20CFE796}"/>
              </a:ext>
            </a:extLst>
          </p:cNvPr>
          <p:cNvSpPr txBox="1"/>
          <p:nvPr/>
        </p:nvSpPr>
        <p:spPr>
          <a:xfrm>
            <a:off x="1782500" y="4467822"/>
            <a:ext cx="792865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i="1" dirty="0"/>
              <a:t>(Silhouette: higher = better; DBI: lower = better)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73C7FA9-D97F-06C5-4F56-FA8CABCB6FA2}"/>
              </a:ext>
            </a:extLst>
          </p:cNvPr>
          <p:cNvSpPr txBox="1"/>
          <p:nvPr/>
        </p:nvSpPr>
        <p:spPr>
          <a:xfrm>
            <a:off x="902823" y="4768761"/>
            <a:ext cx="8021255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600" b="1" u="sng" dirty="0"/>
              <a:t>Conclusion: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HDBSCAN provides the best overall cluster quality</a:t>
            </a:r>
            <a:br>
              <a:rPr lang="en-IN" sz="1600" dirty="0"/>
            </a:br>
            <a:r>
              <a:rPr lang="en-IN" sz="1600" dirty="0"/>
              <a:t>→ Highest separation</a:t>
            </a:r>
            <a:br>
              <a:rPr lang="en-IN" sz="1600" dirty="0"/>
            </a:br>
            <a:r>
              <a:rPr lang="en-IN" sz="1600" dirty="0"/>
              <a:t>→ Smallest intra-cluster variance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Hierarchical</a:t>
            </a:r>
            <a:r>
              <a:rPr lang="en-IN" sz="1600" dirty="0"/>
              <a:t> shows similar structure but weaker numeric scores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 err="1"/>
              <a:t>KMeans</a:t>
            </a:r>
            <a:r>
              <a:rPr lang="en-IN" sz="1600" dirty="0"/>
              <a:t> kept as a baseline reference model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BCB21B3-F4F2-B930-D8E3-07FDCA6C4867}"/>
              </a:ext>
            </a:extLst>
          </p:cNvPr>
          <p:cNvSpPr txBox="1"/>
          <p:nvPr/>
        </p:nvSpPr>
        <p:spPr>
          <a:xfrm>
            <a:off x="914400" y="2650603"/>
            <a:ext cx="36691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u="sng" dirty="0"/>
              <a:t>Evaluation Metrics (Test Set):</a:t>
            </a:r>
          </a:p>
        </p:txBody>
      </p:sp>
    </p:spTree>
    <p:extLst>
      <p:ext uri="{BB962C8B-B14F-4D97-AF65-F5344CB8AC3E}">
        <p14:creationId xmlns:p14="http://schemas.microsoft.com/office/powerpoint/2010/main" val="41248788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15BB02-6B7E-21D5-876D-B5F98DD1D3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6051" y="157711"/>
            <a:ext cx="9326876" cy="937650"/>
          </a:xfrm>
        </p:spPr>
        <p:txBody>
          <a:bodyPr/>
          <a:lstStyle/>
          <a:p>
            <a:pPr algn="ctr"/>
            <a:r>
              <a:rPr lang="en-US" sz="3200" u="sng" dirty="0">
                <a:solidFill>
                  <a:srgbClr val="1C4587"/>
                </a:solidFill>
                <a:latin typeface="+mj-lt"/>
              </a:rPr>
              <a:t>Final Segments &amp; </a:t>
            </a:r>
            <a:r>
              <a:rPr lang="en-US" sz="3200" u="sng" dirty="0" err="1">
                <a:solidFill>
                  <a:srgbClr val="1C4587"/>
                </a:solidFill>
                <a:latin typeface="+mj-lt"/>
              </a:rPr>
              <a:t>Behaviour</a:t>
            </a:r>
            <a:r>
              <a:rPr lang="en-US" sz="3200" u="sng" dirty="0">
                <a:solidFill>
                  <a:srgbClr val="1C4587"/>
                </a:solidFill>
                <a:latin typeface="+mj-lt"/>
              </a:rPr>
              <a:t> Insights</a:t>
            </a:r>
            <a:br>
              <a:rPr lang="en-US" sz="3200" u="sng" dirty="0">
                <a:solidFill>
                  <a:srgbClr val="1C4587"/>
                </a:solidFill>
                <a:latin typeface="+mj-lt"/>
              </a:rPr>
            </a:br>
            <a:r>
              <a:rPr lang="en-US" sz="3200" u="sng" dirty="0">
                <a:solidFill>
                  <a:srgbClr val="1C4587"/>
                </a:solidFill>
                <a:latin typeface="+mj-lt"/>
              </a:rPr>
              <a:t>(HDBSCAN + RFM)</a:t>
            </a:r>
            <a:endParaRPr lang="en-IN" sz="3200" dirty="0">
              <a:latin typeface="+mj-lt"/>
            </a:endParaRPr>
          </a:p>
        </p:txBody>
      </p:sp>
      <p:pic>
        <p:nvPicPr>
          <p:cNvPr id="3" name="Picture 2" descr="A logo for a company&#10;&#10;AI-generated content may be incorrect.">
            <a:extLst>
              <a:ext uri="{FF2B5EF4-FFF2-40B4-BE49-F238E27FC236}">
                <a16:creationId xmlns:a16="http://schemas.microsoft.com/office/drawing/2014/main" id="{72930F2C-0B4B-28C1-1324-8C6E8B088F9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6829" b="30639"/>
          <a:stretch>
            <a:fillRect/>
          </a:stretch>
        </p:blipFill>
        <p:spPr>
          <a:xfrm>
            <a:off x="9792109" y="277792"/>
            <a:ext cx="1905000" cy="81022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15006BE-181B-70A8-146E-1AE69ACF8437}"/>
              </a:ext>
            </a:extLst>
          </p:cNvPr>
          <p:cNvSpPr txBox="1"/>
          <p:nvPr/>
        </p:nvSpPr>
        <p:spPr>
          <a:xfrm>
            <a:off x="902824" y="1469981"/>
            <a:ext cx="824117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600" b="1" u="sng" dirty="0"/>
              <a:t>Key Visuals: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Bar Chart:</a:t>
            </a:r>
            <a:r>
              <a:rPr lang="en-IN" sz="1600" dirty="0"/>
              <a:t> Customers per HDBSCAN cluster (noise removed)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RFM Behaviour Plots:</a:t>
            </a:r>
            <a:endParaRPr lang="en-IN" sz="1600" dirty="0"/>
          </a:p>
          <a:p>
            <a:pPr lvl="1"/>
            <a:r>
              <a:rPr lang="en-IN" sz="1600" dirty="0"/>
              <a:t>            - Recency, Frequency, Avg. Basket Size (Monetary-proxy)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Cluster Behaviour Comparison:</a:t>
            </a:r>
            <a:endParaRPr lang="en-IN" sz="1600" dirty="0"/>
          </a:p>
          <a:p>
            <a:pPr lvl="1"/>
            <a:r>
              <a:rPr lang="en-IN" sz="1600" dirty="0"/>
              <a:t>             - Reorder ratio</a:t>
            </a:r>
          </a:p>
          <a:p>
            <a:pPr lvl="1"/>
            <a:r>
              <a:rPr lang="en-IN" sz="1600" dirty="0"/>
              <a:t>             - Days-since-last-order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C714DE4-678B-09F8-8341-70AC1BF048A4}"/>
              </a:ext>
            </a:extLst>
          </p:cNvPr>
          <p:cNvSpPr txBox="1"/>
          <p:nvPr/>
        </p:nvSpPr>
        <p:spPr>
          <a:xfrm>
            <a:off x="578729" y="3703898"/>
            <a:ext cx="5671595" cy="24314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600" b="1" u="sng" dirty="0"/>
              <a:t>Segment Insights (HDBSCAN): </a:t>
            </a:r>
          </a:p>
          <a:p>
            <a:r>
              <a:rPr lang="en-IN" sz="1600" b="1" dirty="0"/>
              <a:t>🟩 Segment 0 – Loyal High-Value Buyers</a:t>
            </a:r>
            <a:endParaRPr lang="en-IN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High frequency, large baskets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Low recency (buy often)</a:t>
            </a:r>
            <a:br>
              <a:rPr lang="en-IN" sz="1600" dirty="0"/>
            </a:br>
            <a:r>
              <a:rPr lang="en-IN" sz="1600" b="1" dirty="0"/>
              <a:t>Action:</a:t>
            </a:r>
            <a:r>
              <a:rPr lang="en-IN" sz="1600" dirty="0"/>
              <a:t> Loyalty rewards, premium cross-sell bundles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600" dirty="0"/>
          </a:p>
          <a:p>
            <a:r>
              <a:rPr lang="en-IN" sz="1600" b="1" dirty="0"/>
              <a:t>🟦 Segment 1 – Regular Moderate Buyers</a:t>
            </a:r>
            <a:endParaRPr lang="en-IN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Medium basket size, stable frequency</a:t>
            </a:r>
            <a:br>
              <a:rPr lang="en-IN" sz="1600" dirty="0"/>
            </a:br>
            <a:r>
              <a:rPr lang="en-IN" sz="1600" b="1" dirty="0"/>
              <a:t>Action:</a:t>
            </a:r>
            <a:r>
              <a:rPr lang="en-IN" sz="1600" dirty="0"/>
              <a:t> Personalized aisle/department recommendations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F84258D-9CD3-4AE9-7B0B-E78CF581F925}"/>
              </a:ext>
            </a:extLst>
          </p:cNvPr>
          <p:cNvSpPr txBox="1"/>
          <p:nvPr/>
        </p:nvSpPr>
        <p:spPr>
          <a:xfrm>
            <a:off x="6539703" y="4027996"/>
            <a:ext cx="5636871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/>
              <a:t>🟧 Segment 2 – At-Risk / Churn Segment</a:t>
            </a:r>
            <a:endParaRPr lang="en-IN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High recency (long gaps), low engagement</a:t>
            </a:r>
            <a:br>
              <a:rPr lang="en-IN" sz="1600" dirty="0"/>
            </a:br>
            <a:r>
              <a:rPr lang="en-IN" sz="1600" b="1" dirty="0"/>
              <a:t>Action:</a:t>
            </a:r>
            <a:r>
              <a:rPr lang="en-IN" sz="1600" dirty="0"/>
              <a:t> Reactivation offers, push notifications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800" dirty="0"/>
          </a:p>
          <a:p>
            <a:pPr>
              <a:lnSpc>
                <a:spcPct val="150000"/>
              </a:lnSpc>
            </a:pPr>
            <a:r>
              <a:rPr lang="en-IN" sz="1600" b="1" dirty="0"/>
              <a:t>🟨 Segment 3 – Bulk but Infrequent Buyers</a:t>
            </a:r>
            <a:endParaRPr lang="en-IN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Large baskets but low frequency</a:t>
            </a:r>
            <a:br>
              <a:rPr lang="en-IN" sz="1600" dirty="0"/>
            </a:br>
            <a:r>
              <a:rPr lang="en-IN" sz="1600" b="1" dirty="0"/>
              <a:t>Action:</a:t>
            </a:r>
            <a:r>
              <a:rPr lang="en-IN" sz="1600" dirty="0"/>
              <a:t> Bulk-purchase deals, stock-up reminders</a:t>
            </a:r>
          </a:p>
        </p:txBody>
      </p:sp>
    </p:spTree>
    <p:extLst>
      <p:ext uri="{BB962C8B-B14F-4D97-AF65-F5344CB8AC3E}">
        <p14:creationId xmlns:p14="http://schemas.microsoft.com/office/powerpoint/2010/main" val="30307726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5294BE-B87E-CF22-983F-36E7CBFCBF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EFC2EA-90B1-A314-9C78-06A5325127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9676" y="342913"/>
            <a:ext cx="9326876" cy="937650"/>
          </a:xfrm>
        </p:spPr>
        <p:txBody>
          <a:bodyPr/>
          <a:lstStyle/>
          <a:p>
            <a:pPr algn="ctr"/>
            <a:r>
              <a:rPr lang="en-US" sz="3600" u="sng" dirty="0">
                <a:solidFill>
                  <a:srgbClr val="1C4587"/>
                </a:solidFill>
                <a:latin typeface="+mj-lt"/>
              </a:rPr>
              <a:t>Conclusions</a:t>
            </a:r>
            <a:endParaRPr lang="en-IN" sz="3600" dirty="0">
              <a:latin typeface="+mj-lt"/>
            </a:endParaRPr>
          </a:p>
        </p:txBody>
      </p:sp>
      <p:pic>
        <p:nvPicPr>
          <p:cNvPr id="3" name="Picture 2" descr="A logo for a company&#10;&#10;AI-generated content may be incorrect.">
            <a:extLst>
              <a:ext uri="{FF2B5EF4-FFF2-40B4-BE49-F238E27FC236}">
                <a16:creationId xmlns:a16="http://schemas.microsoft.com/office/drawing/2014/main" id="{7E580427-1799-EDEB-97AC-322778E4601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6829" b="30639"/>
          <a:stretch>
            <a:fillRect/>
          </a:stretch>
        </p:blipFill>
        <p:spPr>
          <a:xfrm>
            <a:off x="9792109" y="277792"/>
            <a:ext cx="1905000" cy="81022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0A2CE47-0FA4-C58C-9965-942D66204513}"/>
              </a:ext>
            </a:extLst>
          </p:cNvPr>
          <p:cNvSpPr txBox="1"/>
          <p:nvPr/>
        </p:nvSpPr>
        <p:spPr>
          <a:xfrm>
            <a:off x="775503" y="1307933"/>
            <a:ext cx="9560689" cy="37805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800" dirty="0"/>
              <a:t>Built complete end-to-end segmentation pipeline</a:t>
            </a:r>
            <a:br>
              <a:rPr lang="en-IN" sz="1800" dirty="0"/>
            </a:br>
            <a:r>
              <a:rPr lang="en-IN" sz="1800" dirty="0"/>
              <a:t>(Cleaning → Features → Clustering → Insights)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800" dirty="0"/>
              <a:t>Tried 3 clustering techniques;</a:t>
            </a:r>
            <a:br>
              <a:rPr lang="en-IN" sz="1800" dirty="0"/>
            </a:br>
            <a:r>
              <a:rPr lang="en-IN" sz="1800" b="1" dirty="0"/>
              <a:t>HDBSCAN clearly performs best</a:t>
            </a:r>
            <a:r>
              <a:rPr lang="en-IN" sz="1800" dirty="0"/>
              <a:t> (Silhouette ≈ 0.60, DBI ≈ 0.45)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800" dirty="0"/>
              <a:t>RFM-style analysis confirms meaningful customer groups:</a:t>
            </a:r>
          </a:p>
          <a:p>
            <a:pPr marL="2857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dirty="0"/>
              <a:t>High-value loyal customers</a:t>
            </a:r>
          </a:p>
          <a:p>
            <a:pPr marL="2857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dirty="0"/>
              <a:t>Regular moderate buyers</a:t>
            </a:r>
          </a:p>
          <a:p>
            <a:pPr marL="2857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dirty="0"/>
              <a:t>Infrequent / at-risk customers</a:t>
            </a:r>
          </a:p>
          <a:p>
            <a:pPr marL="2857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dirty="0"/>
              <a:t>Occasional bulk buyers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9AFA571-13B0-861F-A88D-403A1F2E5AB9}"/>
              </a:ext>
            </a:extLst>
          </p:cNvPr>
          <p:cNvSpPr txBox="1"/>
          <p:nvPr/>
        </p:nvSpPr>
        <p:spPr>
          <a:xfrm>
            <a:off x="1250057" y="5069705"/>
            <a:ext cx="5671595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b="1" u="sng" dirty="0"/>
              <a:t>Business Actions: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600" b="1" dirty="0"/>
              <a:t>High-value:</a:t>
            </a:r>
            <a:r>
              <a:rPr lang="en-US" sz="1600" dirty="0"/>
              <a:t> loyalty rewards, premium cross-sell bundles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600" b="1" dirty="0"/>
              <a:t>At-risk:</a:t>
            </a:r>
            <a:r>
              <a:rPr lang="en-US" sz="1600" dirty="0"/>
              <a:t> retention messages, discount reactivation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600" b="1" dirty="0"/>
              <a:t>Bulk buyers:</a:t>
            </a:r>
            <a:r>
              <a:rPr lang="en-US" sz="1600" dirty="0"/>
              <a:t> offer category-specific deals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600" b="1" dirty="0"/>
              <a:t>General:</a:t>
            </a:r>
            <a:r>
              <a:rPr lang="en-US" sz="1600" dirty="0"/>
              <a:t> segment-based email campaigns</a:t>
            </a:r>
          </a:p>
        </p:txBody>
      </p:sp>
    </p:spTree>
    <p:extLst>
      <p:ext uri="{BB962C8B-B14F-4D97-AF65-F5344CB8AC3E}">
        <p14:creationId xmlns:p14="http://schemas.microsoft.com/office/powerpoint/2010/main" val="8732612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ITS Digital">
      <a:dk1>
        <a:srgbClr val="000000"/>
      </a:dk1>
      <a:lt1>
        <a:srgbClr val="FFFFFF"/>
      </a:lt1>
      <a:dk2>
        <a:srgbClr val="7651A1"/>
      </a:dk2>
      <a:lt2>
        <a:srgbClr val="E8E8E8"/>
      </a:lt2>
      <a:accent1>
        <a:srgbClr val="7651A1"/>
      </a:accent1>
      <a:accent2>
        <a:srgbClr val="73C2E4"/>
      </a:accent2>
      <a:accent3>
        <a:srgbClr val="EA202A"/>
      </a:accent3>
      <a:accent4>
        <a:srgbClr val="F8C62C"/>
      </a:accent4>
      <a:accent5>
        <a:srgbClr val="2B2C6C"/>
      </a:accent5>
      <a:accent6>
        <a:srgbClr val="9700FF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359</TotalTime>
  <Words>612</Words>
  <Application>Microsoft Office PowerPoint</Application>
  <PresentationFormat>Widescreen</PresentationFormat>
  <Paragraphs>96</Paragraphs>
  <Slides>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Calibri</vt:lpstr>
      <vt:lpstr>Arial</vt:lpstr>
      <vt:lpstr>Wingdings</vt:lpstr>
      <vt:lpstr>Courier New</vt:lpstr>
      <vt:lpstr>Arial Narrow</vt:lpstr>
      <vt:lpstr>Office Theme</vt:lpstr>
      <vt:lpstr>Title: Customer Segmentation using Clustering(Instacart Market Basket Analysis)</vt:lpstr>
      <vt:lpstr>Data &amp; Feature Engineering (High-Level)</vt:lpstr>
      <vt:lpstr>Clustering Models &amp; Metrics</vt:lpstr>
      <vt:lpstr>Final Segments &amp; Behaviour Insights (HDBSCAN + RFM)</vt:lpstr>
      <vt:lpstr>Conclusions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Singh, Manjeet (GRG-MRM)</dc:creator>
  <cp:lastModifiedBy>Anisha Das</cp:lastModifiedBy>
  <cp:revision>38</cp:revision>
  <dcterms:created xsi:type="dcterms:W3CDTF">2025-05-30T08:20:10Z</dcterms:created>
  <dcterms:modified xsi:type="dcterms:W3CDTF">2025-12-07T07:37:55Z</dcterms:modified>
</cp:coreProperties>
</file>